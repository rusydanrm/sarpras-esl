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A0850"/>
          </a:solidFill>
          <a:ln w="19050">
            <a:solidFill>
              <a:srgbClr val="282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4114800" cy="384048"/>
          </a:xfrm>
          <a:prstGeom prst="roundRect">
            <a:avLst/>
          </a:prstGeom>
          <a:solidFill>
            <a:srgbClr val="191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5B4FC"/>
                </a:solidFill>
                <a:latin typeface="Calibri"/>
              </a:defRPr>
            </a:pPr>
            <a:r>
              <a:t>LAPORAN PROGRES PENGEMBANGAN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Sistem Informasi Manajemen</a:t>
            </a:r>
            <a:br/>
            <a:r>
              <a:t>Sarana dan Prasarana (Sarpras ESL)</a:t>
            </a:r>
          </a:p>
          <a:p>
            <a:pPr>
              <a:defRPr sz="1600">
                <a:solidFill>
                  <a:srgbClr val="C8D2EB"/>
                </a:solidFill>
                <a:latin typeface="Calibri"/>
              </a:defRPr>
            </a:pPr>
            <a:r>
              <a:t>Digitalisasi Inventaris Ruangan (DIR/DBR), Pengajuan, Pemeliharaan Aset, dan Peminjaman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Departemen Ekonomi Sumberdaya dan Lingkungan (ESL) · Fakultas Ekonomi &amp; Manajemen</a:t>
            </a:r>
          </a:p>
          <a:p>
            <a:pPr>
              <a:defRPr sz="1200">
                <a:solidFill>
                  <a:srgbClr val="9CA3AF"/>
                </a:solidFill>
                <a:latin typeface="Calibri"/>
              </a:defRPr>
            </a:pPr>
            <a:r>
              <a:t>IPB University · Proyek Magang Mahasiswa TRPL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Latar Belakang &amp; Masalah yang Diselesaikan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20116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KONDISI SEBELUMNYA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1B21"/>
                </a:solidFill>
                <a:latin typeface="Calibri"/>
              </a:defRPr>
            </a:pPr>
            <a:r>
              <a:t>• Pencatatan Manual Excel (DIR/DBR)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Data tersebar di berbagai file Excel ruangan tanpa sinkronisasi terpusat, menyulitkan pengecekan stok &amp; nilai total aset.</a:t>
            </a:r>
          </a:p>
          <a:p>
            <a:pPr>
              <a:defRPr sz="1300" b="1">
                <a:solidFill>
                  <a:srgbClr val="181B21"/>
                </a:solidFill>
                <a:latin typeface="Calibri"/>
              </a:defRPr>
            </a:pPr>
            <a:r>
              <a:t>• Riwayat Servis Tidak Terekam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Pemeliharaan AC/PC/alat laboratorium dicatat terpisah sehingga interval servis rutin sering terlewat.</a:t>
            </a:r>
          </a:p>
          <a:p>
            <a:pPr>
              <a:defRPr sz="1300" b="1">
                <a:solidFill>
                  <a:srgbClr val="181B21"/>
                </a:solidFill>
                <a:latin typeface="Calibri"/>
              </a:defRPr>
            </a:pPr>
            <a:r>
              <a:t>• Proses Pengajuan &amp; Peminjaman Lambat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Pengajuan perbaikan barang &amp; booking ruangan masih konvensional, rawan tumpang tindih (bentrok jadwal).</a:t>
            </a:r>
          </a:p>
          <a:p>
            <a:pPr>
              <a:defRPr sz="1300" b="1">
                <a:solidFill>
                  <a:srgbClr val="181B21"/>
                </a:solidFill>
                <a:latin typeface="Calibri"/>
              </a:defRPr>
            </a:pPr>
            <a:r>
              <a:t>• Kendala Transparansi Data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Dosen, tendik, dan mahasiswa kesulitan memantau fasilitas ruangan secara cepat tanpa bertanya manual.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737360"/>
            <a:ext cx="228600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SOLUSI APLIKASI SARPRAS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0F8B"/>
                </a:solidFill>
                <a:latin typeface="Calibri"/>
              </a:defRPr>
            </a:pPr>
            <a:r>
              <a:t>✔ Sentralisasi Data &amp; Format DIR Standar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Pencatatan inventaris per ruangan berbasis format resmi DIR IPB dengan pembagian kondisi B / RR / RB presisi.</a:t>
            </a:r>
          </a:p>
          <a:p>
            <a:pPr>
              <a:defRPr sz="1300" b="1">
                <a:solidFill>
                  <a:srgbClr val="120F8B"/>
                </a:solidFill>
                <a:latin typeface="Calibri"/>
              </a:defRPr>
            </a:pPr>
            <a:r>
              <a:t>✔ Jadwal Pemeliharaan &amp; Notifikasi Otomatis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Sistem otomatis menghitung jatuh tempo servis berkala dan mengirimkan notifikasi harian ke teknisi/admin.</a:t>
            </a:r>
          </a:p>
          <a:p>
            <a:pPr>
              <a:defRPr sz="1300" b="1">
                <a:solidFill>
                  <a:srgbClr val="120F8B"/>
                </a:solidFill>
                <a:latin typeface="Calibri"/>
              </a:defRPr>
            </a:pPr>
            <a:r>
              <a:t>✔ Alur Pengajuan &amp; Verifikasi 2 Tingkat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Alur bertingkat: Dosen/Tendik mengajukan -&gt; Verifikasi Admin -&gt; Persetujuan Pimpinan -&gt; Pengerjaan Teknisi.</a:t>
            </a:r>
          </a:p>
          <a:p>
            <a:pPr>
              <a:defRPr sz="1300" b="1">
                <a:solidFill>
                  <a:srgbClr val="120F8B"/>
                </a:solidFill>
                <a:latin typeface="Calibri"/>
              </a:defRPr>
            </a:pPr>
            <a:r>
              <a:t>✔ Pencegahan Bentrok &amp; Portal Publik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Pengecekan overlap jadwal peminjaman otomatis serta portal publik read-only tanpa login.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Arsitektur Teknologi &amp; Keputusan Desain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2240280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EA9B9"/>
                </a:solidFill>
                <a:latin typeface="Calibri"/>
              </a:defRPr>
            </a:pPr>
            <a:r>
              <a:t>BACKEND FRAMEWORK</a:t>
            </a:r>
          </a:p>
          <a:p>
            <a:pPr>
              <a:spcAft>
                <a:spcPts val="400"/>
              </a:spcAft>
              <a:defRPr sz="1500" b="1">
                <a:solidFill>
                  <a:srgbClr val="120F8B"/>
                </a:solidFill>
                <a:latin typeface="Calibri"/>
              </a:defRPr>
            </a:pPr>
            <a:r>
              <a:t>Laravel 13 &amp; PHP 8.4</a:t>
            </a:r>
          </a:p>
          <a:p>
            <a:pPr>
              <a:defRPr sz="1100">
                <a:solidFill>
                  <a:srgbClr val="495465"/>
                </a:solidFill>
                <a:latin typeface="Calibri"/>
              </a:defRPr>
            </a:pPr>
            <a:r>
              <a:t>Performa tinggi, routing clean, Eloquent ORM efisien, sistem otorisasi role terpusat, dan CLI Scheduled Task untuk reminder otomatis harian.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109728" cy="2240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EA9B9"/>
                </a:solidFill>
                <a:latin typeface="Calibri"/>
              </a:defRPr>
            </a:pPr>
            <a:r>
              <a:t>DATABASE ARCHITECTURE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MySQL Database</a:t>
            </a:r>
          </a:p>
          <a:p>
            <a:pPr>
              <a:defRPr sz="1100">
                <a:solidFill>
                  <a:srgbClr val="495465"/>
                </a:solidFill>
                <a:latin typeface="Calibri"/>
              </a:defRPr>
            </a:pPr>
            <a:r>
              <a:t>Relasi foreign key cascade/set null terstruktur. Menggunakan Generated Stored Columns (luas_m2, total_harga) untuk integritas kalkulasi nilai aset otomatis.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86200"/>
            <a:ext cx="109728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EA9B9"/>
                </a:solidFill>
                <a:latin typeface="Calibri"/>
              </a:defRPr>
            </a:pPr>
            <a:r>
              <a:t>FRONTEND INTERACTION</a:t>
            </a:r>
          </a:p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Blade + Tailwind + Alpine.js</a:t>
            </a:r>
          </a:p>
          <a:p>
            <a:pPr>
              <a:defRPr sz="1100">
                <a:solidFill>
                  <a:srgbClr val="495465"/>
                </a:solidFill>
                <a:latin typeface="Calibri"/>
              </a:defRPr>
            </a:pPr>
            <a:r>
              <a:t>Keputusan sadar: BUKAN SPA rumit (React/Vue/Inertia) demi kemudahan handover ke staf non-developer ESL. Menggunakan modal mengambang &amp; AJAX partial swap.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109728" cy="2240280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EA9B9"/>
                </a:solidFill>
                <a:latin typeface="Calibri"/>
              </a:defRPr>
            </a:pPr>
            <a:r>
              <a:t>EKSPOR, IMPOR &amp; IKON</a:t>
            </a:r>
          </a:p>
          <a:p>
            <a:pPr>
              <a:spcAft>
                <a:spcPts val="400"/>
              </a:spcAft>
              <a:defRPr sz="1500" b="1">
                <a:solidFill>
                  <a:srgbClr val="120F8B"/>
                </a:solidFill>
                <a:latin typeface="Calibri"/>
              </a:defRPr>
            </a:pPr>
            <a:r>
              <a:t>Excel, DomPDF, Heroicons</a:t>
            </a:r>
          </a:p>
          <a:p>
            <a:pPr>
              <a:defRPr sz="1100">
                <a:solidFill>
                  <a:srgbClr val="495465"/>
                </a:solidFill>
                <a:latin typeface="Calibri"/>
              </a:defRPr>
            </a:pPr>
            <a:r>
              <a:t>Mendukung impor Excel (file XLSX &amp; tempel clipboard DIR), cetak laporan PDF resmi departemen, dan visual UI elegan via Blade Heroicons.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4 Role Pengguna &amp; Matriks Hak Akses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777240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  <a:p>
            <a:pPr>
              <a:defRPr sz="950">
                <a:solidFill>
                  <a:srgbClr val="DCE6FA"/>
                </a:solidFill>
                <a:latin typeface="Calibri"/>
              </a:defRPr>
            </a:pPr>
            <a:r>
              <a:t>Pengelola Utama Sarpras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Akses penuh ke seluruh modul &amp; data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Verifikasi Tahap-1 pada setiap Pengajuan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Approval &amp; aktivasi akun baru pengguna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Kelola Master Data (Gedung, Jenis, Vendor)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Impor data Excel DIR &amp; ekspor laporan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Dosen / Tendik</a:t>
            </a:r>
          </a:p>
          <a:p>
            <a:pPr>
              <a:defRPr sz="950">
                <a:solidFill>
                  <a:srgbClr val="DCE6FA"/>
                </a:solidFill>
                <a:latin typeface="Calibri"/>
              </a:defRPr>
            </a:pPr>
            <a:r>
              <a:t>Koordinator Ruangan &amp; Pemohon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Bisa ditugaskan jadi Koordinator Ruangan (Many-to-Many)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CRUD data barang di ruangan tanggung jawabnya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Ajukan Pengadaan, Perbaikan, &amp; Penggantian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Mengajukan peminjaman ruangan / alat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Melihat riwayat pengajuan mandiri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5603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Teknisi</a:t>
            </a:r>
          </a:p>
          <a:p>
            <a:pPr>
              <a:defRPr sz="950">
                <a:solidFill>
                  <a:srgbClr val="DCE6FA"/>
                </a:solidFill>
                <a:latin typeface="Calibri"/>
              </a:defRPr>
            </a:pPr>
            <a:r>
              <a:t>Eksekutor Pemeliharaan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7744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Mencatat tindakan perbaikan &amp; servis berkala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Memproses pengajuan yang sudah disetujui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Menerima notifikasi jatuh tempo pemeliharaan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Otomatis memulihkan kondisi barang jadi Baik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Melihat riwayat pemeliharaan teknis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463040"/>
            <a:ext cx="2560320" cy="777240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Pimpinan</a:t>
            </a:r>
          </a:p>
          <a:p>
            <a:pPr>
              <a:defRPr sz="950">
                <a:solidFill>
                  <a:srgbClr val="DCE6FA"/>
                </a:solidFill>
                <a:latin typeface="Calibri"/>
              </a:defRPr>
            </a:pPr>
            <a:r>
              <a:t>Otoritas Persetujuan &amp;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Dashboard eksekutif &amp; monitoring aset ESL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Persetujuan / Penolakan Tahap-2 Pengajuan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Persetujuan peminjaman ruangan &amp; barang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Akses read-only seluruh data inventaris</a:t>
            </a:r>
          </a:p>
          <a:p>
            <a:pPr>
              <a:spcAft>
                <a:spcPts val="600"/>
              </a:spcAft>
              <a:defRPr sz="1000">
                <a:solidFill>
                  <a:srgbClr val="495465"/>
                </a:solidFill>
                <a:latin typeface="Calibri"/>
              </a:defRPr>
            </a:pPr>
            <a:r>
              <a:t>• Akses unduh Laporan resmi Excel &amp;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Daftar Fitur &amp; Modul yang Selesai Dikembangkan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Dashboard &amp; Visualisasi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Ringkasan total ruangan, unit barang, nilai rupiah aset, chart barang per gedung, dan donat kondisi unit.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11880" y="164592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Inventaris Ruangan &amp; Barang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Pencatatan barang berbasis ruangan &amp; global, rincian kondisi (B/RR/RB), interval servis, modal detail read-only.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0" y="164592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Workflow Pengajuan Aset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Pengajuan 4 jenis (Pengadaan/Perbaikan/Pemeliharaan/Penggantian) dengan 2-step verification &amp; tracking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06840" y="164592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05740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Pemeliharaan &amp; Auto Schedule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Log riwayat servis vendor/teknisi, jadwal rutin otomatis via command daily 07:00 dan notifikasi in-app.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02336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Peminjaman &amp; Conflict Detection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Peminjaman ruangan atau barang dengan validasi otomatis bentrok tanggal/jam agar tidak ada double booking.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840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11880" y="402336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3484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Impor Excel Cepat (2 Mode)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Upload file XLSX dan Tempel Clipboard langsung dari Excel DIR/DBR dengan auto-parser kolom B/RR/RB.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40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0" y="402336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3484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Laporan &amp; Ekspor Resmi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Filter multi-kriteria (gedung, tahun, sumber dana, kondisi) serta ekspor instan ke Excel &amp; format cetak PDF.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840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06840" y="4023360"/>
            <a:ext cx="320040" cy="320040"/>
          </a:xfrm>
          <a:prstGeom prst="ellipse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43484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20F8B"/>
                </a:solidFill>
                <a:latin typeface="Calibri"/>
              </a:defRPr>
            </a:pPr>
            <a:r>
              <a:t>Portal Publik Read-Only</a:t>
            </a:r>
          </a:p>
          <a:p>
            <a:pPr>
              <a:defRPr sz="1000">
                <a:solidFill>
                  <a:srgbClr val="495465"/>
                </a:solidFill>
                <a:latin typeface="Calibri"/>
              </a:defRPr>
            </a:pPr>
            <a:r>
              <a:t>Halaman publik (/portal) tanpa login untuk melihat fasilitas ruangan dan ketersediaan barang di ESL.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Alur Kerja 1: Workflow Pengajuan Sarpras (2-Stage Approval)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783080" cy="594360"/>
          </a:xfrm>
          <a:prstGeom prst="round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Diajukan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Oleh: Dosen / Tendik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95465"/>
                </a:solidFill>
                <a:latin typeface="Calibri"/>
              </a:defRPr>
            </a:pPr>
            <a:r>
              <a:t>Mengisi formulir pengajuan (Pengadaan, Perbaikan, Pemeliharaan, atau Penggantian) beserta deskripsi kebutuhan.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4951" y="1828800"/>
            <a:ext cx="178308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Verifikasi-1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Oleh: Admin Sarpras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60604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95465"/>
                </a:solidFill>
                <a:latin typeface="Calibri"/>
              </a:defRPr>
            </a:pPr>
            <a:r>
              <a:t>Memeriksa kelayakan teknis, ketersediaan barang di ruangan, dan memvalidasi kebenaran data pengajuan.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1224" y="1828800"/>
            <a:ext cx="17830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Persetujuan-2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Oleh: Pimpinan Dept.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0604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95465"/>
                </a:solidFill>
                <a:latin typeface="Calibri"/>
              </a:defRPr>
            </a:pPr>
            <a:r>
              <a:t>Menyetujui (Disetujui) atau menolak (Ditolak) pengajuan berdasarkan kebijakan anggaran departemen.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97496" y="1828800"/>
            <a:ext cx="1783080" cy="594360"/>
          </a:xfrm>
          <a:prstGeom prst="round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Tindak Lanjut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Oleh: Teknisi /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60604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95465"/>
                </a:solidFill>
                <a:latin typeface="Calibri"/>
              </a:defRPr>
            </a:pPr>
            <a:r>
              <a:t>Status berubah menjadi 'Diproses'. Teknisi/vendor mengerjakan perbaikan atau pengadaan barang.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3768" y="1828800"/>
            <a:ext cx="17830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Selesai</a:t>
            </a:r>
          </a:p>
          <a:p>
            <a:pPr algn="ctr">
              <a:defRPr sz="850">
                <a:solidFill>
                  <a:srgbClr val="E6F0FF"/>
                </a:solidFill>
                <a:latin typeface="Calibri"/>
              </a:defRPr>
            </a:pPr>
            <a:r>
              <a:t>Oleh: Sistem Otomatis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60604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95465"/>
                </a:solidFill>
                <a:latin typeface="Calibri"/>
              </a:defRPr>
            </a:pPr>
            <a:r>
              <a:t>Status 'Selesai'. Log pemeliharaan tercatat permanen, kondisi barang otomatis dipulihkan ke 'Baik'.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07208" y="3474720"/>
            <a:ext cx="82296" cy="164592"/>
          </a:xfrm>
          <a:prstGeom prst="rightArrow">
            <a:avLst/>
          </a:prstGeom>
          <a:solidFill>
            <a:srgbClr val="9E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983480" y="3474720"/>
            <a:ext cx="82296" cy="164592"/>
          </a:xfrm>
          <a:prstGeom prst="rightArrow">
            <a:avLst/>
          </a:prstGeom>
          <a:solidFill>
            <a:srgbClr val="9E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159752" y="3474720"/>
            <a:ext cx="82296" cy="164592"/>
          </a:xfrm>
          <a:prstGeom prst="rightArrow">
            <a:avLst/>
          </a:prstGeom>
          <a:solidFill>
            <a:srgbClr val="9E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336024" y="3474720"/>
            <a:ext cx="82296" cy="164592"/>
          </a:xfrm>
          <a:prstGeom prst="rightArrow">
            <a:avLst/>
          </a:prstGeom>
          <a:solidFill>
            <a:srgbClr val="9E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Alur Kerja 2: Peminjaman Fasilitas &amp; Servis Otomatis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274320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120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120F8B"/>
                </a:solidFill>
              </a:defRPr>
            </a:pPr>
            <a:r>
              <a:t>ALUR PEMINJAMAN RUANGAN / BARANG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0F8B"/>
                </a:solidFill>
                <a:latin typeface="Calibri"/>
              </a:defRPr>
            </a:pPr>
            <a:r>
              <a:t>1. Pengajuan Booking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User memilih Ruangan atau Barang beserta rentang tanggal &amp; waktu pinjam.</a:t>
            </a:r>
          </a:p>
          <a:p>
            <a:pPr>
              <a:defRPr sz="1200" b="1">
                <a:solidFill>
                  <a:srgbClr val="120F8B"/>
                </a:solidFill>
                <a:latin typeface="Calibri"/>
              </a:defRPr>
            </a:pPr>
            <a:r>
              <a:t>2. Validasi Bentrok Otomatis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Sistem memeriksa jadwal booking yang aktif. Menolak otomatis jika terjadi overlap waktu.</a:t>
            </a:r>
          </a:p>
          <a:p>
            <a:pPr>
              <a:defRPr sz="1200" b="1">
                <a:solidFill>
                  <a:srgbClr val="120F8B"/>
                </a:solidFill>
                <a:latin typeface="Calibri"/>
              </a:defRPr>
            </a:pPr>
            <a:r>
              <a:t>3. Persetujuan Admin / Pimpinan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Admin &amp; Pimpinan meninjau tujuan peminjaman dan menerbitkan status 'Disetujui'.</a:t>
            </a:r>
          </a:p>
          <a:p>
            <a:pPr>
              <a:defRPr sz="1200" b="1">
                <a:solidFill>
                  <a:srgbClr val="120F8B"/>
                </a:solidFill>
                <a:latin typeface="Calibri"/>
              </a:defRPr>
            </a:pPr>
            <a:r>
              <a:t>4. Pemakaian &amp; Pengembalian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Setelah selesai digunakan, Admin menandai status menjadi 'Dikembalikan' dan fasilitas siap dipinjam kembali.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737360"/>
            <a:ext cx="2926080" cy="3200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SISTEM PEMELIHARAAN RUTIN 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Calibri"/>
              </a:defRPr>
            </a:pPr>
            <a:r>
              <a:t>1. Definisi Interval Servis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Setiap barang dapat diatur interval servisnya (misal: AC = 3 bulan, Genset = 1 bulan).</a:t>
            </a:r>
          </a:p>
          <a:p>
            <a:pPr>
              <a:defRPr sz="1200" b="1">
                <a:solidFill>
                  <a:srgbClr val="F59E0B"/>
                </a:solidFill>
                <a:latin typeface="Calibri"/>
              </a:defRPr>
            </a:pPr>
            <a:r>
              <a:t>2. Scheduled Command (07:00 Pagi)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Cron job harian (cek:jadwal-pemeliharaan) menghitung jatuh tempo berdasarkan tanggal servis terakhir.</a:t>
            </a:r>
          </a:p>
          <a:p>
            <a:pPr>
              <a:defRPr sz="1200" b="1">
                <a:solidFill>
                  <a:srgbClr val="F59E0B"/>
                </a:solidFill>
                <a:latin typeface="Calibri"/>
              </a:defRPr>
            </a:pPr>
            <a:r>
              <a:t>3. Notifikasi In-App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Notifikasi otomatis dikirimkan ke tabel notifikasi teknisi/admin saat servis mendekati jatuh tempo.</a:t>
            </a:r>
          </a:p>
          <a:p>
            <a:pPr>
              <a:defRPr sz="1200" b="1">
                <a:solidFill>
                  <a:srgbClr val="F59E0B"/>
                </a:solidFill>
                <a:latin typeface="Calibri"/>
              </a:defRPr>
            </a:pPr>
            <a:r>
              <a:t>4. Pencatatan Servis &amp; Reset Siklus</a:t>
            </a:r>
          </a:p>
          <a:p>
            <a:pPr>
              <a:spcAft>
                <a:spcPts val="6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   Teknisi mencatat log servis, biaya, dan vendor. Tanggal servis diperbarui dan kondisi barang kembali 'Baik'.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Penyempurnaan Terkini: Standardisasi Logika Kondisi DIR/DBR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20F8B"/>
                </a:solidFill>
                <a:latin typeface="Calibri"/>
              </a:defRPr>
            </a:pPr>
            <a:r>
              <a:t>Transformasi Field Kondisi Barang Menjadi 3 Kolom Kuantitas (B / RR / RB)</a:t>
            </a:r>
          </a:p>
          <a:p>
            <a:pPr>
              <a:defRPr sz="1250" b="1">
                <a:solidFill>
                  <a:srgbClr val="181B21"/>
                </a:solidFill>
                <a:latin typeface="Calibri"/>
              </a:defRPr>
            </a:pPr>
            <a:r>
              <a:t>★ Latar Masalah Logika Awal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Sebelumnya, 1 baris aset hanya bisa berlabel 1 kondisi enum untuk seluruh unit (contoh: 3 Smart TV hanya bisa 'Baik' semua atau 'Rusak' semua, padahal riilnya bisa 2 Baik dan 1 Rusak Ringan).</a:t>
            </a:r>
          </a:p>
          <a:p>
            <a:pPr>
              <a:defRPr sz="1250" b="1">
                <a:solidFill>
                  <a:srgbClr val="181B21"/>
                </a:solidFill>
                <a:latin typeface="Calibri"/>
              </a:defRPr>
            </a:pPr>
            <a:r>
              <a:t>★ Solusi Format Standar DIR/DBR IPB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Tabel barang disesuaikan memiliki 3 kolom kuantitas: kondisi_baik, kondisi_rusak_ringan, dan kondisi_rusak_berat, dengan total jumlah unit terkalkulasi otomatis.</a:t>
            </a:r>
          </a:p>
          <a:p>
            <a:pPr>
              <a:defRPr sz="1250" b="1">
                <a:solidFill>
                  <a:srgbClr val="181B21"/>
                </a:solidFill>
                <a:latin typeface="Calibri"/>
              </a:defRPr>
            </a:pPr>
            <a:r>
              <a:t>★ Tampilan Badge Dinamis di Antarmuka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Pada tabel inventaris, jika suatu aset memiliki kondisi campuran, sistem menampilkan badge presisi (contoh: [2 Baik] [1 RR]), dan badge hijau tunggal jika seluruh unit baik.</a:t>
            </a:r>
          </a:p>
          <a:p>
            <a:pPr>
              <a:defRPr sz="1250" b="1">
                <a:solidFill>
                  <a:srgbClr val="181B21"/>
                </a:solidFill>
                <a:latin typeface="Calibri"/>
              </a:defRPr>
            </a:pPr>
            <a:r>
              <a:t>★ Integrasi Penuh ke Seluruh Modul</a:t>
            </a:r>
          </a:p>
          <a:p>
            <a:pPr>
              <a:spcAft>
                <a:spcPts val="800"/>
              </a:spcAft>
              <a:defRPr sz="1100">
                <a:solidFill>
                  <a:srgbClr val="495465"/>
                </a:solidFill>
                <a:latin typeface="Calibri"/>
              </a:defRPr>
            </a:pPr>
            <a:r>
              <a:t>   Penyempurnaan ini terintegrasi langsung ke Dashboard (sum per unit), Laporan Cetak PDF &amp; Excel DIR, Parser Impor Clipboard Excel, dan Modul Pemeliharaan.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20F8B"/>
                </a:solidFill>
                <a:latin typeface="Calibri"/>
              </a:defRPr>
            </a:pPr>
            <a:r>
              <a:t>SARPRAS ESL · DEPARTEMEN EKONOMI SUMBERDAYA DAN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B21"/>
                </a:solidFill>
                <a:latin typeface="Calibri"/>
              </a:defRPr>
            </a:pPr>
            <a:r>
              <a:t>Apa Saja yang Belum Dibuat &amp; Rencana Selanjutnya (Next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20F8B"/>
                </a:solidFill>
                <a:latin typeface="Calibri"/>
              </a:defRPr>
            </a:pPr>
            <a:r>
              <a:t>1. Aktivasi Ulang Self-Register Akun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Menyelesaikan alur pendaftaran mandiri (self-register) pengguna baru dengan status pending.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Notifikasi ke Admin saat ada user baru mendaftar untuk verifikasi role (Dosen/Tendik/Teknisi/Pimpinan).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2. User Manual &amp; Panduan Penggunaan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Penyusunan modul panduan penggunaan ringkas untuk masing-masing role.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Panduan operasional impor Excel DIR/DBR bagi staf tata usaha &amp; koordinator ruangan.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8620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3. User Acceptance Testing (UAT)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Pengujian fungsional terarah bersama staf sarpras dan perwakilan dosen ESL.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Uji coba skenario peminjaman ruangan dan pemeliharaan alat secara langsung.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212080" cy="73152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20F8B"/>
                </a:solidFill>
                <a:latin typeface="Calibri"/>
              </a:defRPr>
            </a:pPr>
            <a:r>
              <a:t>4. Persiapan Deployment &amp; Data Migration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Migrasi menyeluruh data riil DIR/DBR seluruh ruangan di Departemen ESL.</a:t>
            </a:r>
          </a:p>
          <a:p>
            <a:pPr>
              <a:spcAft>
                <a:spcPts val="400"/>
              </a:spcAft>
              <a:defRPr sz="1050">
                <a:solidFill>
                  <a:srgbClr val="495465"/>
                </a:solidFill>
                <a:latin typeface="Calibri"/>
              </a:defRPr>
            </a:pPr>
            <a:r>
              <a:t>• Setup server production, konfigurasi scheduler cron job, dan handover sistem.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A0850"/>
          </a:solidFill>
          <a:ln w="19050">
            <a:solidFill>
              <a:srgbClr val="282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  <a:p>
            <a:pPr algn="ctr">
              <a:spcAft>
                <a:spcPts val="2400"/>
              </a:spcAft>
              <a:defRPr sz="1400">
                <a:solidFill>
                  <a:srgbClr val="C8D7F5"/>
                </a:solidFill>
                <a:latin typeface="Calibri"/>
              </a:defRPr>
            </a:pPr>
            <a:r>
              <a:t>Sistem Informasi Manajemen Sarana &amp; Prasarana (Sarpras ESL)</a:t>
            </a:r>
            <a:br/>
            <a:r>
              <a:t>Departemen Ekonomi Sumberdaya dan Lingkungan — IPB University</a:t>
            </a:r>
          </a:p>
          <a:p>
            <a:pPr algn="ctr">
              <a:defRPr sz="1500" b="1">
                <a:solidFill>
                  <a:srgbClr val="A5B4FC"/>
                </a:solidFill>
                <a:latin typeface="Calibri"/>
              </a:defRPr>
            </a:pPr>
            <a:r>
              <a:t>Sesi Demonstrasi Langsung (Live Demo) &amp; Tanya Jawab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